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f3d85b13434271" /><Relationship Type="http://schemas.openxmlformats.org/officeDocument/2006/relationships/extended-properties" Target="/docProps/app.xml" Id="Rf045a6f3fea040ad" /><Relationship Type="http://schemas.openxmlformats.org/officeDocument/2006/relationships/officeDocument" Target="/ppt/presentation.xml" Id="R156ecab37733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87ae1c7d149a4"/>
  </p:sldMasterIdLst>
  <p:notesMasterIdLst>
    <p:notesMasterId xmlns:r="http://schemas.openxmlformats.org/officeDocument/2006/relationships" r:id="Rb406b71b5f1a4688"/>
  </p:notesMasterIdLst>
  <p:sldIdLst>
    <p:sldId xmlns:r="http://schemas.openxmlformats.org/officeDocument/2006/relationships" id="256" r:id="R45735264fc764f29"/>
    <p:sldId xmlns:r="http://schemas.openxmlformats.org/officeDocument/2006/relationships" id="257" r:id="R283d66462fc64ba4"/>
    <p:sldId xmlns:r="http://schemas.openxmlformats.org/officeDocument/2006/relationships" id="258" r:id="R305560c9d9254ab9"/>
    <p:sldId xmlns:r="http://schemas.openxmlformats.org/officeDocument/2006/relationships" id="259" r:id="Rc4d2fec695f74bf9"/>
    <p:sldId xmlns:r="http://schemas.openxmlformats.org/officeDocument/2006/relationships" id="260" r:id="R06d2a2f3911849f8"/>
    <p:sldId xmlns:r="http://schemas.openxmlformats.org/officeDocument/2006/relationships" id="261" r:id="R01ec2369f43f4d2c"/>
    <p:sldId xmlns:r="http://schemas.openxmlformats.org/officeDocument/2006/relationships" id="262" r:id="R23babf7150f44b99"/>
    <p:sldId xmlns:r="http://schemas.openxmlformats.org/officeDocument/2006/relationships" id="263" r:id="Rcdf5fc688c834645"/>
    <p:sldId xmlns:r="http://schemas.openxmlformats.org/officeDocument/2006/relationships" id="264" r:id="Rdcae991dfb8d41f6"/>
    <p:sldId xmlns:r="http://schemas.openxmlformats.org/officeDocument/2006/relationships" id="265" r:id="R8b565b579aad48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cd599462074544" /><Relationship Type="http://schemas.openxmlformats.org/officeDocument/2006/relationships/slideMaster" Target="/ppt/slideMasters/slideMaster1.xml" Id="R8ee87ae1c7d149a4" /><Relationship Type="http://schemas.openxmlformats.org/officeDocument/2006/relationships/notesMaster" Target="/ppt/notesMasters/notesMaster1.xml" Id="Rb406b71b5f1a4688" /><Relationship Type="http://schemas.openxmlformats.org/officeDocument/2006/relationships/presProps" Target="/ppt/presProps.xml" Id="R565d13ea79964d4f" /><Relationship Type="http://schemas.openxmlformats.org/officeDocument/2006/relationships/tableStyles" Target="/ppt/tableStyles.xml" Id="R591a38f116034cbf" /><Relationship Type="http://schemas.openxmlformats.org/officeDocument/2006/relationships/slide" Target="/ppt/slides/slide1.xml" Id="R45735264fc764f29" /><Relationship Type="http://schemas.openxmlformats.org/officeDocument/2006/relationships/slide" Target="/ppt/slides/slide2.xml" Id="R283d66462fc64ba4" /><Relationship Type="http://schemas.openxmlformats.org/officeDocument/2006/relationships/slide" Target="/ppt/slides/slide3.xml" Id="R305560c9d9254ab9" /><Relationship Type="http://schemas.openxmlformats.org/officeDocument/2006/relationships/slide" Target="/ppt/slides/slide4.xml" Id="Rc4d2fec695f74bf9" /><Relationship Type="http://schemas.openxmlformats.org/officeDocument/2006/relationships/slide" Target="/ppt/slides/slide5.xml" Id="R06d2a2f3911849f8" /><Relationship Type="http://schemas.openxmlformats.org/officeDocument/2006/relationships/slide" Target="/ppt/slides/slide6.xml" Id="R01ec2369f43f4d2c" /><Relationship Type="http://schemas.openxmlformats.org/officeDocument/2006/relationships/slide" Target="/ppt/slides/slide7.xml" Id="R23babf7150f44b99" /><Relationship Type="http://schemas.openxmlformats.org/officeDocument/2006/relationships/slide" Target="/ppt/slides/slide8.xml" Id="Rcdf5fc688c834645" /><Relationship Type="http://schemas.openxmlformats.org/officeDocument/2006/relationships/slide" Target="/ppt/slides/slide9.xml" Id="Rdcae991dfb8d41f6" /><Relationship Type="http://schemas.openxmlformats.org/officeDocument/2006/relationships/slide" Target="/ppt/slides/slide10.xml" Id="R8b565b579aad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3ecabfe64346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fd9018e438499c" /><Relationship Type="http://schemas.openxmlformats.org/officeDocument/2006/relationships/notesMaster" Target="/ppt/notesMasters/notesMaster1.xml" Id="Re02e26681864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5c683683c46c8" /><Relationship Type="http://schemas.openxmlformats.org/officeDocument/2006/relationships/notesMaster" Target="/ppt/notesMasters/notesMaster1.xml" Id="R14dc4b2bedcc4d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a94f7e99c34ad8" /><Relationship Type="http://schemas.openxmlformats.org/officeDocument/2006/relationships/notesMaster" Target="/ppt/notesMasters/notesMaster1.xml" Id="R7b7cb5e0ffa4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ebc96de9646f2" /><Relationship Type="http://schemas.openxmlformats.org/officeDocument/2006/relationships/notesMaster" Target="/ppt/notesMasters/notesMaster1.xml" Id="R21fa6a2814b349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daff3a8c254bf8" /><Relationship Type="http://schemas.openxmlformats.org/officeDocument/2006/relationships/notesMaster" Target="/ppt/notesMasters/notesMaster1.xml" Id="R4edf99d26f9d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0ea4b81f1f4916" /><Relationship Type="http://schemas.openxmlformats.org/officeDocument/2006/relationships/notesMaster" Target="/ppt/notesMasters/notesMaster1.xml" Id="R82704d161bd1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9355b3d4b4ce2" /><Relationship Type="http://schemas.openxmlformats.org/officeDocument/2006/relationships/notesMaster" Target="/ppt/notesMasters/notesMaster1.xml" Id="R19c6843d29d84d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61cc24b65e49ec" /><Relationship Type="http://schemas.openxmlformats.org/officeDocument/2006/relationships/notesMaster" Target="/ppt/notesMasters/notesMaster1.xml" Id="Rf45a44ece027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1f4b7142f4b75" /><Relationship Type="http://schemas.openxmlformats.org/officeDocument/2006/relationships/notesMaster" Target="/ppt/notesMasters/notesMaster1.xml" Id="R54912a74c51c40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5deb0ccbbc4a4c" /><Relationship Type="http://schemas.openxmlformats.org/officeDocument/2006/relationships/notesMaster" Target="/ppt/notesMasters/notesMaster1.xml" Id="R065992f613c340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5d0cd51414f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988a1aeccb427f" /><Relationship Type="http://schemas.openxmlformats.org/officeDocument/2006/relationships/slideLayout" Target="/ppt/slideLayouts/slideLayout1.xml" Id="R645d240c3395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d240c3395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3f359cb444014" /><Relationship Type="http://schemas.openxmlformats.org/officeDocument/2006/relationships/notesSlide" Target="/ppt/notesSlides/notesSlide1.xml" Id="R9a8c836bbf3b4f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521f5c3bd42ca" /><Relationship Type="http://schemas.openxmlformats.org/officeDocument/2006/relationships/notesSlide" Target="/ppt/notesSlides/notesSlide2.xml" Id="R5dc88d1c21fe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8c367525f471b" /><Relationship Type="http://schemas.openxmlformats.org/officeDocument/2006/relationships/notesSlide" Target="/ppt/notesSlides/notesSlide3.xml" Id="Rb89b08b637a448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2e825d83741b0" /><Relationship Type="http://schemas.openxmlformats.org/officeDocument/2006/relationships/notesSlide" Target="/ppt/notesSlides/notesSlide4.xml" Id="Rc7d1ec0bff39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ee8138e3d40b8" /><Relationship Type="http://schemas.openxmlformats.org/officeDocument/2006/relationships/notesSlide" Target="/ppt/notesSlides/notesSlide5.xml" Id="Reb451a66d72e44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543237b8b4909" /><Relationship Type="http://schemas.openxmlformats.org/officeDocument/2006/relationships/notesSlide" Target="/ppt/notesSlides/notesSlide6.xml" Id="Rd2bf0546b92b4b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3d92838ea4794" /><Relationship Type="http://schemas.openxmlformats.org/officeDocument/2006/relationships/notesSlide" Target="/ppt/notesSlides/notesSlide7.xml" Id="R22d36845f99643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145ec4e65460e" /><Relationship Type="http://schemas.openxmlformats.org/officeDocument/2006/relationships/notesSlide" Target="/ppt/notesSlides/notesSlide8.xml" Id="Raf977d0da98547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a20ecce074c23" /><Relationship Type="http://schemas.openxmlformats.org/officeDocument/2006/relationships/notesSlide" Target="/ppt/notesSlides/notesSlide9.xml" Id="Ref3f29fe805b4b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a338ecf844788" /><Relationship Type="http://schemas.openxmlformats.org/officeDocument/2006/relationships/notesSlide" Target="/ppt/notesSlides/notesSlide10.xml" Id="R09b9d733f372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13637-101C-43B8-90EB-9E5B6645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COWORK RETAKE / DEVELOPMENT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7BEC9-C27A-46CA-AA66-B0ACA1D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5"/>
                </a:solidFill>
              </a:defRPr>
            </a:pPr>
            <a:r>
              <a:rPr sz="4050" b="1">
                <a:solidFill>
                  <a:srgbClr val="F7F7F5"/>
                </a:solidFill>
              </a:rPr>
              <a:t>JDU Portfolio</a:t>
            </a:r>
          </a:p>
          <a:p xmlns:a="http://schemas.openxmlformats.org/drawingml/2006/main">
            <a:pPr>
              <a:defRPr sz="4050" b="1">
                <a:solidFill>
                  <a:srgbClr val="F7F7F5"/>
                </a:solidFill>
              </a:defRPr>
            </a:pPr>
            <a:r>
              <a:rPr sz="4050" b="1">
                <a:solidFill>
                  <a:srgbClr val="F7F7F5"/>
                </a:solidFill>
              </a:rPr>
              <a:t>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C9E69-927B-4F4D-BB18-626CB58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BA1AA"/>
                </a:solidFill>
              </a:defRPr>
            </a:pPr>
            <a:r>
              <a:rPr sz="1575">
                <a:solidFill>
                  <a:srgbClr val="9BA1AA"/>
                </a:solidFill>
              </a:rPr>
              <a:t>Многоязычный архив студенческих проектов,</a:t>
            </a:r>
          </a:p>
          <a:p xmlns:a="http://schemas.openxmlformats.org/drawingml/2006/main">
            <a:pPr>
              <a:defRPr sz="1575">
                <a:solidFill>
                  <a:srgbClr val="9BA1AA"/>
                </a:solidFill>
              </a:defRPr>
            </a:pPr>
            <a:r>
              <a:rPr sz="1575">
                <a:solidFill>
                  <a:srgbClr val="9BA1AA"/>
                </a:solidFill>
              </a:rPr>
              <a:t>который превращает работу в понятный кейс.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BA974-43B7-4A8B-BEF2-DD165046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D2D0D-4481-402E-943B-2B7F1BFB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72FF"/>
                </a:solidFill>
              </a:defRPr>
            </a:pPr>
            <a:r>
              <a:rPr sz="825" b="1">
                <a:solidFill>
                  <a:srgbClr val="A872FF"/>
                </a:solidFill>
              </a:rPr>
              <a:t>EN / RU / UZ / JP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B5F16-DEC7-4547-A066-F656A30F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7F7F5"/>
                </a:solidFill>
              </a:defRPr>
            </a:pPr>
            <a:r>
              <a:rPr sz="1125" b="1">
                <a:solidFill>
                  <a:srgbClr val="F7F7F5"/>
                </a:solidFill>
              </a:rPr>
              <a:t>Shoxruxbek Mukarramov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50FC0-031A-4016-B2EB-6AB23B92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17C"/>
                </a:solidFill>
              </a:defRPr>
            </a:pPr>
            <a:r>
              <a:rPr sz="825">
                <a:solidFill>
                  <a:srgbClr val="69717C"/>
                </a:solidFill>
              </a:rPr>
              <a:t>30 AUG 2026  ·  JDU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7F01E-C701-48C6-AF4F-C5513C1D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905250" cy="49720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6984D-1A5F-4C98-8314-294C2D0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81100"/>
            <a:ext cx="3295650" cy="43624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51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48D01-149B-4FF2-B6C6-8794B48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6BAFF"/>
                </a:solidFill>
              </a:defRPr>
            </a:pPr>
            <a:r>
              <a:rPr sz="825" b="1">
                <a:solidFill>
                  <a:srgbClr val="D6BAFF"/>
                </a:solidFill>
              </a:rPr>
              <a:t>01 / JDU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2C6AC-13B3-4FF1-9F6B-360E15E3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26860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319"/>
          </a:solidFill>
          <a:ln xmlns:a="http://schemas.openxmlformats.org/drawingml/2006/main" w="9525">
            <a:solidFill>
              <a:srgbClr val="5F4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B3F12-F34D-406E-8860-4893DFE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1F2D4-C213-42B9-A9B4-943EBE1A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625CC-4BCF-4E39-9B62-FE29DCEB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F9164-5168-44B0-97D0-80B8ACB3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004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7F5"/>
                </a:solidFill>
              </a:defRPr>
            </a:pPr>
            <a:r>
              <a:rPr sz="2550" b="1">
                <a:solidFill>
                  <a:srgbClr val="F7F7F5"/>
                </a:solidFill>
              </a:rPr>
              <a:t>Nihongo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E3C32-9157-4C21-8DA1-47BFA5A0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BA1AA"/>
                </a:solidFill>
              </a:defRPr>
            </a:pPr>
            <a:r>
              <a:rPr sz="1200">
                <a:solidFill>
                  <a:srgbClr val="9BA1AA"/>
                </a:solidFill>
              </a:rPr>
              <a:t>Talk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E52C1-5DF2-4672-868E-5CAC01E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717C"/>
                </a:solidFill>
              </a:defRPr>
            </a:pPr>
            <a:r>
              <a:rPr sz="750">
                <a:solidFill>
                  <a:srgbClr val="69717C"/>
                </a:solidFill>
              </a:rPr>
              <a:t>OPEN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E9DB0-5CB3-46FE-AD23-DB4C3282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7F5"/>
                </a:solidFill>
              </a:defRPr>
            </a:pPr>
            <a:r>
              <a:rPr sz="1350" b="1">
                <a:solidFill>
                  <a:srgbClr val="F7F7F5"/>
                </a:solidFill>
              </a:rPr>
              <a:t>One place for the work</a:t>
            </a:r>
          </a:p>
          <a:p xmlns:a="http://schemas.openxmlformats.org/drawingml/2006/main">
            <a:pPr>
              <a:defRPr sz="1350" b="1">
                <a:solidFill>
                  <a:srgbClr val="F7F7F5"/>
                </a:solidFill>
              </a:defRPr>
            </a:pPr>
            <a:r>
              <a:rPr sz="1350" b="1">
                <a:solidFill>
                  <a:srgbClr val="F7F7F5"/>
                </a:solidFill>
              </a:rPr>
              <a:t>and the story around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32DB0-63AC-4167-8228-8EC5516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1EC90-71B3-481D-8F8D-0C74E0D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  /  REPORT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C0F1B-DD73-4FFE-A7DD-FC9D6149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0446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90F03C-8DA3-491D-98F7-4DA29AF1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01 /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FA21F-4AD5-4B3A-9BB7-495CE8BC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The work exists.</a:t>
            </a:r>
          </a:p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The story is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BC4E2-7FF2-4C4F-BC24-12C7CEF0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Студентские проекты часто живут в отдельных папках,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ссылках и презентациях — без единого входа для зрителя.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70EDD-B5AA-40BF-B2E5-38CC3EB5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1B44C-B3FD-4E80-B3A3-AD0B531F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F4A7B-316E-48B4-A9A4-CD6198EF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6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Drive folder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73AE8-F777-4319-8CF9-4C477C28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F7F5"/>
                </a:solidFill>
              </a:defRPr>
            </a:pPr>
            <a:r>
              <a:rPr sz="1050" b="1">
                <a:solidFill>
                  <a:srgbClr val="F7F7F5"/>
                </a:solidFill>
              </a:rPr>
              <a:t>final-final-2.pdf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F1C89-5548-450E-803B-92E92428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FBAB8-2F33-4D10-9BEC-B9AC58D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4935-C070-46A2-AD18-38AFE07B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FA217-D382-4F8A-8771-96A67D41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F7F5"/>
                </a:solidFill>
              </a:defRPr>
            </a:pPr>
            <a:r>
              <a:rPr sz="1050" b="1">
                <a:solidFill>
                  <a:srgbClr val="F7F7F5"/>
                </a:solidFill>
              </a:rPr>
              <a:t>figma.com/file/…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1B99B-0E49-4725-9A32-ED497EA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E400A-3571-4FF8-BE07-544F9D2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55E2A-FF6F-4691-AC89-30166840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Demo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53039-96F1-4E93-A2BE-77E3B7A3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F7F5"/>
                </a:solidFill>
              </a:defRPr>
            </a:pPr>
            <a:r>
              <a:rPr sz="1050" b="1">
                <a:solidFill>
                  <a:srgbClr val="F7F7F5"/>
                </a:solidFill>
              </a:rPr>
              <a:t>localhost:3000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27C25-FBA9-4BA8-8730-42B5852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3C3F5-7AFC-4C81-9F9B-5EF401FF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F53F2-4EE4-4A35-9F05-7B68F7E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576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DA094-379A-4225-99BF-A2DF85D7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F7F5"/>
                </a:solidFill>
              </a:defRPr>
            </a:pPr>
            <a:r>
              <a:rPr sz="1050" b="1">
                <a:solidFill>
                  <a:srgbClr val="F7F7F5"/>
                </a:solidFill>
              </a:rPr>
              <a:t>“Looks nice!”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59B1F-AF60-4A26-9CCF-9BADAF8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CA375-1281-4323-AB20-3FBC0BE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589F4-E904-480E-BF09-E5E16B3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68E13-82FE-4001-837D-D8F63435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5"/>
                </a:solidFill>
              </a:defRPr>
            </a:pPr>
            <a:r>
              <a:rPr sz="1350" b="1">
                <a:solidFill>
                  <a:srgbClr val="F7F7F5"/>
                </a:solidFill>
              </a:rPr>
              <a:t>one archive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BBD87-0BC5-4231-9BD8-566D76B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33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1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D729F-102F-4B54-A14D-2520D1A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24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5D4FF"/>
                </a:solidFill>
              </a:defRPr>
            </a:pPr>
            <a:r>
              <a:rPr sz="1275" b="1">
                <a:solidFill>
                  <a:srgbClr val="E5D4FF"/>
                </a:solidFill>
              </a:rPr>
              <a:t>JDU Portfolio 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E68A7-8046-48B6-99AD-94F8CB4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8E777-867B-45FE-BB90-E9F2FEB8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ACA68-52C4-479B-ABF9-29D82D5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5511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FA2F7-25EC-482C-A5CB-FD023779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02 /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CA170-D369-4118-A524-5E211037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A project becomes a</a:t>
            </a:r>
          </a:p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complete case study.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117A0-D864-4FA2-9DA0-E83CCB5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Архив объединяет сам проект, контекст, вопросы и следующий шаг —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чтобы преподаватель или посетитель понял работу за несколько минут.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31F7B-9394-4094-A579-5E3CC198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50FD1-055C-4414-99D4-6FE2B3B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9"/>
                </a:solidFill>
              </a:defRPr>
            </a:pPr>
            <a:r>
              <a:rPr sz="900" b="1">
                <a:solidFill>
                  <a:srgbClr val="11131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22011-E0E6-48D4-B583-98AAC549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6FB61-72CC-4D92-A4DB-25E32C1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80583-6E7C-419A-BA72-35D65E39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BA1AA"/>
                </a:solidFill>
              </a:defRPr>
            </a:pPr>
            <a:r>
              <a:rPr sz="975">
                <a:solidFill>
                  <a:srgbClr val="9BA1AA"/>
                </a:solidFill>
              </a:rPr>
              <a:t>Кто создал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30958-5547-4D5E-B6C7-DD6CD53B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6509D-B7D9-429D-8B66-6DBB070B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385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9"/>
                </a:solidFill>
              </a:defRPr>
            </a:pPr>
            <a:r>
              <a:rPr sz="900" b="1">
                <a:solidFill>
                  <a:srgbClr val="11131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B754C-6A9F-4D1D-AF41-6B9040E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243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CB754-D839-4EEB-9DE1-678C2D6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38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95569-F295-4D9F-9608-7D5CDCF6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62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BA1AA"/>
                </a:solidFill>
              </a:defRPr>
            </a:pPr>
            <a:r>
              <a:rPr sz="975">
                <a:solidFill>
                  <a:srgbClr val="9BA1AA"/>
                </a:solidFill>
              </a:rPr>
              <a:t>Что сделано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55EF8-A76A-43E0-AA6E-BA3A6D83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0D8E8-128F-4CAD-925C-AD79EE7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9"/>
                </a:solidFill>
              </a:defRPr>
            </a:pPr>
            <a:r>
              <a:rPr sz="900" b="1">
                <a:solidFill>
                  <a:srgbClr val="11131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770D4-AA85-4CC3-9BB7-C4EEE54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2A62-563B-48B3-B984-C1A639E1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E3CAB-45B0-4C3E-836C-652ED60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BA1AA"/>
                </a:solidFill>
              </a:defRPr>
            </a:pPr>
            <a:r>
              <a:rPr sz="975">
                <a:solidFill>
                  <a:srgbClr val="9BA1AA"/>
                </a:solidFill>
              </a:rPr>
              <a:t>Что уточнить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7C632-59F8-48DD-A9B2-DBFA7B8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E85EA-C995-4020-BAD5-57E0B5A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9"/>
                </a:solidFill>
              </a:defRPr>
            </a:pPr>
            <a:r>
              <a:rPr sz="900" b="1">
                <a:solidFill>
                  <a:srgbClr val="11131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4C7FB-AAB5-4563-A41A-F4455A70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22E92-8D0C-4B5F-B00F-11F14C96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BA1AA"/>
                </a:solidFill>
              </a:defRPr>
            </a:pPr>
            <a:r>
              <a:rPr sz="975">
                <a:solidFill>
                  <a:srgbClr val="9BA1AA"/>
                </a:solidFill>
              </a:rPr>
              <a:t>Что 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C91B0-BD04-493D-8BC9-92FAB45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73DEC-668C-4E1D-ADA8-16A96160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BA1AA"/>
                </a:solidFill>
              </a:defRPr>
            </a:pPr>
            <a:r>
              <a:rPr sz="975">
                <a:solidFill>
                  <a:srgbClr val="9BA1AA"/>
                </a:solidFill>
              </a:rPr>
              <a:t>Каталог  ·  поиск  ·  категории  ·  Draft / Published  ·  EN / RU / UZ / JP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726B0-5E68-48A8-A8BD-1C9977F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9989A-F7DA-47F4-8952-E6B30B45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1852E-F111-4E47-98F2-1B88735C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5808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3E3D6B-772A-44DD-90D1-B29745B3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03 / VISUAL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7D916-10E2-47F1-B2EA-D47BEBD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7F5"/>
                </a:solidFill>
              </a:defRPr>
            </a:pPr>
            <a:r>
              <a:rPr sz="2850" b="1">
                <a:solidFill>
                  <a:srgbClr val="F7F7F5"/>
                </a:solidFill>
              </a:rPr>
              <a:t>Quiet interface. Strong signal.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F236B-1AEC-496D-8CCD-1433A9C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BA1AA"/>
                </a:solidFill>
              </a:defRPr>
            </a:pPr>
            <a:r>
              <a:rPr sz="1200">
                <a:solidFill>
                  <a:srgbClr val="9BA1AA"/>
                </a:solidFill>
              </a:rPr>
              <a:t>Тёмная SaaS-панель сохраняет фокус на содержании проекта: фиксированная навигация, крупные 4:3 карточки и один яркий акцент.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77674-A76B-454F-A28F-AE12134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57400" cy="4191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C15B5-361B-4C9C-B41C-BB1F9232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55747-74F0-439C-8D9A-D0D73706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7F5"/>
                </a:solidFill>
              </a:defRPr>
            </a:pPr>
            <a:r>
              <a:rPr sz="1725" b="1">
                <a:solidFill>
                  <a:srgbClr val="F7F7F5"/>
                </a:solidFill>
              </a:rPr>
              <a:t>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DC28C-1F1E-4B4A-923D-59B5215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7F7F5"/>
                </a:solidFill>
              </a:defRPr>
            </a:pPr>
            <a:r>
              <a:rPr sz="1125" b="1">
                <a:solidFill>
                  <a:srgbClr val="F7F7F5"/>
                </a:solidFill>
              </a:rPr>
              <a:t>JDU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038ED-7552-4CA0-BAA0-B3AAA053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7F7F5"/>
                </a:solidFill>
              </a:defRPr>
            </a:pPr>
            <a:r>
              <a:rPr sz="975" b="1">
                <a:solidFill>
                  <a:srgbClr val="F7F7F5"/>
                </a:solidFill>
              </a:rPr>
              <a:t>JDU Creative 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5B2EC-6280-4924-A628-44BA57E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22E3C-E36D-44A0-8005-35DA6913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BA1AA"/>
                </a:solidFill>
              </a:defRPr>
            </a:pPr>
            <a:r>
              <a:rPr sz="825">
                <a:solidFill>
                  <a:srgbClr val="9BA1AA"/>
                </a:solidFill>
              </a:rPr>
              <a:t>Open 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B471D-F920-4009-A076-6FF0F8C3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BA1AA"/>
                </a:solidFill>
              </a:defRPr>
            </a:pPr>
            <a:r>
              <a:rPr sz="975" b="0">
                <a:solidFill>
                  <a:srgbClr val="9BA1AA"/>
                </a:solidFill>
              </a:rPr>
              <a:t>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2CBAE-B1B5-4C76-B7F9-9FA85D53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B341E-D88C-4973-A432-26685CBC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7F7F5"/>
                </a:solidFill>
              </a:defRPr>
            </a:pPr>
            <a:r>
              <a:rPr sz="975" b="1">
                <a:solidFill>
                  <a:srgbClr val="F7F7F5"/>
                </a:solidFill>
              </a:rPr>
              <a:t>Projects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5356C-C2CE-403D-8925-E13EC7F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DEF34-9975-4843-AD3E-7F176F0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BA1AA"/>
                </a:solidFill>
              </a:defRPr>
            </a:pPr>
            <a:r>
              <a:rPr sz="975" b="0">
                <a:solidFill>
                  <a:srgbClr val="9BA1AA"/>
                </a:solidFill>
              </a:rPr>
              <a:t>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A4BE8-1E4B-465D-9BCE-00595AF0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BA1AA"/>
                </a:solidFill>
              </a:defRPr>
            </a:pPr>
            <a:r>
              <a:rPr sz="975" b="0">
                <a:solidFill>
                  <a:srgbClr val="9BA1AA"/>
                </a:solidFill>
              </a:rPr>
              <a:t>Portfolio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7E1CD-7A97-43C1-AC33-D2CBA9AF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B6E4F-1855-407A-B031-EE9F421B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PUBLISHING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2175C-3F85-4FFB-99DB-A86775B1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86312-62DE-4E58-B5C6-6A263ACC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1200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565DB-F41B-417E-972E-333778AF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BA1AA"/>
                </a:solidFill>
              </a:defRPr>
            </a:pPr>
            <a:r>
              <a:rPr sz="825">
                <a:solidFill>
                  <a:srgbClr val="9BA1AA"/>
                </a:solidFill>
              </a:rPr>
              <a:t>82% 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6FD2E-F87E-4ADA-97F1-DDFB9A8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73914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BF69D-93DD-44BB-AAFE-35A63A40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PROJECTS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458F9-4965-4880-9077-880B73B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5"/>
                </a:solidFill>
              </a:defRPr>
            </a:pPr>
            <a:r>
              <a:rPr sz="2100" b="1">
                <a:solidFill>
                  <a:srgbClr val="F7F7F5"/>
                </a:solidFill>
              </a:rPr>
              <a:t>Project library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A7FB5-9622-41B1-A5BB-734BF79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671BE-88FE-4750-9042-C609DABC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7F5"/>
                </a:solidFill>
              </a:defRPr>
            </a:pPr>
            <a:r>
              <a:rPr sz="825" b="1">
                <a:solidFill>
                  <a:srgbClr val="F7F7F5"/>
                </a:solidFill>
              </a:rPr>
              <a:t>All projects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5DC31-6889-4E7A-9A13-24FCA8D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4D1AD-4E81-4099-83D9-82034CA8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A1AA"/>
                </a:solidFill>
              </a:defRPr>
            </a:pPr>
            <a:r>
              <a:rPr sz="825" b="1">
                <a:solidFill>
                  <a:srgbClr val="9BA1AA"/>
                </a:solidFill>
              </a:rPr>
              <a:t>Published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BA03A-13CF-45F3-9667-3093FB89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DA744-F81F-4006-A3BA-0FF2AC1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A1AA"/>
                </a:solidFill>
              </a:defRPr>
            </a:pPr>
            <a:r>
              <a:rPr sz="825" b="1">
                <a:solidFill>
                  <a:srgbClr val="9BA1AA"/>
                </a:solidFill>
              </a:rPr>
              <a:t>Drafts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26AC3-848C-4A3C-AA7C-9B8B1C5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076450" cy="23622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9FA98-06FF-43A4-B25A-5B6DF57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A1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6A2C8-C80C-4C6B-AE07-0405D2A0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0050"/>
            <a:ext cx="1276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319"/>
          </a:solidFill>
          <a:ln xmlns:a="http://schemas.openxmlformats.org/drawingml/2006/main" w="9525">
            <a:solidFill>
              <a:srgbClr val="53596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9E033C-B51A-44F3-837E-C30DC76F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990A0A-4764-4730-A23A-1EDB9BE9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910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F92D60-E717-4C41-B874-1E8EED5D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Nihongo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CD42D-0F6C-4AC9-A1BC-D54F694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959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17C"/>
                </a:solidFill>
              </a:defRPr>
            </a:pPr>
            <a:r>
              <a:rPr sz="900">
                <a:solidFill>
                  <a:srgbClr val="69717C"/>
                </a:solidFill>
              </a:rPr>
              <a:t>Learning systems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8DA19-D32C-47D7-B738-4D42DFF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57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Published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BD0577-9C4D-426A-A27F-E00A0D6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2076450" cy="23622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8DE88-8803-46A0-B2F4-B89E47C2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433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5D2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AE4416-A942-42E2-BA3E-B5BD2685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1276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319"/>
          </a:solidFill>
          <a:ln xmlns:a="http://schemas.openxmlformats.org/drawingml/2006/main" w="9525">
            <a:solidFill>
              <a:srgbClr val="5359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5B8EDC-5E24-4EC6-AF96-78C0DF4B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291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1B765B-EEA5-4B88-9CC6-C17B236B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4C581A-4162-464F-A809-DDCB1F1E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Osh Table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616416-9AAA-450B-BDA4-5DEE859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959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17C"/>
                </a:solidFill>
              </a:defRPr>
            </a:pPr>
            <a:r>
              <a:rPr sz="900">
                <a:solidFill>
                  <a:srgbClr val="69717C"/>
                </a:solidFill>
              </a:rPr>
              <a:t>Community tools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161ABD-46A8-4A1A-934E-1C90FBAE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057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Published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139956-9421-42AE-A4DD-80819BD3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076450" cy="23622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113FD6-6E75-4719-9AA3-C433C5C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3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FB7680-C762-4A71-99C3-084EDC9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1276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319"/>
          </a:solidFill>
          <a:ln xmlns:a="http://schemas.openxmlformats.org/drawingml/2006/main" w="9525">
            <a:solidFill>
              <a:srgbClr val="53596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676A3C-10F8-4DE3-82C9-17A1941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291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9BB7D5-08E6-4B94-A3ED-8C682D7F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910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BE7F20-CEE9-412C-A220-2C1BD99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7F5"/>
                </a:solidFill>
              </a:defRPr>
            </a:pPr>
            <a:r>
              <a:rPr sz="1500" b="1">
                <a:solidFill>
                  <a:srgbClr val="F7F7F5"/>
                </a:solidFill>
              </a:rPr>
              <a:t>Quiet City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DE2B7F-C22E-4972-8455-D49185B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959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17C"/>
                </a:solidFill>
              </a:defRPr>
            </a:pPr>
            <a:r>
              <a:rPr sz="900">
                <a:solidFill>
                  <a:srgbClr val="69717C"/>
                </a:solidFill>
              </a:rPr>
              <a:t>Culture + code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93D8C5-8AB6-46C6-B7B1-C6716A1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057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B63"/>
                </a:solidFill>
              </a:defRPr>
            </a:pPr>
            <a:r>
              <a:rPr sz="825" b="1">
                <a:solidFill>
                  <a:srgbClr val="FF9B63"/>
                </a:solidFill>
              </a:rPr>
              <a:t>Draft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904EF5-3267-44AB-BDA4-C552FF04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16EF22-1644-4C89-A765-934D558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BF267A-81F8-4BB7-BF58-E4D6B9EE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0654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4F80D-7A38-4F8C-AA24-3DD4D33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04 / 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3A083-90C7-42C5-9B26-2BE5445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7F5"/>
                </a:solidFill>
              </a:defRPr>
            </a:pPr>
            <a:r>
              <a:rPr sz="3300" b="1">
                <a:solidFill>
                  <a:srgbClr val="F7F7F5"/>
                </a:solidFill>
              </a:rPr>
              <a:t>The path from profile</a:t>
            </a:r>
          </a:p>
          <a:p xmlns:a="http://schemas.openxmlformats.org/drawingml/2006/main">
            <a:pPr>
              <a:defRPr sz="3300" b="1">
                <a:solidFill>
                  <a:srgbClr val="F7F7F5"/>
                </a:solidFill>
              </a:defRPr>
            </a:pPr>
            <a:r>
              <a:rPr sz="3300" b="1">
                <a:solidFill>
                  <a:srgbClr val="F7F7F5"/>
                </a:solidFill>
              </a:rPr>
              <a:t>to published work is short.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F2604-BD37-47CD-A97A-E859ADFE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Регистрация профиля открывает авторский сценарий: добавить проект,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сохранить Draft, подготовить demo и опубликовать, когда всё готово.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0A896-4417-4896-9A83-A2335D3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1145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82EDB-24DA-486D-8F86-335AB2B8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5DB5"/>
                </a:solidFill>
              </a:defRPr>
            </a:pPr>
            <a:r>
              <a:rPr sz="975" b="1">
                <a:solidFill>
                  <a:srgbClr val="F05DB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E44CA-A054-4F69-9C9F-E8D821C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Create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73FFB-B7F4-4835-8A61-06F7454E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A1AA"/>
                </a:solidFill>
              </a:defRPr>
            </a:pPr>
            <a:r>
              <a:rPr sz="900">
                <a:solidFill>
                  <a:srgbClr val="9BA1AA"/>
                </a:solidFill>
              </a:rPr>
              <a:t>name · role ·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27998-904C-46A3-B097-5F41F548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1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72FF"/>
                </a:solidFill>
              </a:defRPr>
            </a:pPr>
            <a:r>
              <a:rPr sz="1950" b="1">
                <a:solidFill>
                  <a:srgbClr val="A872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3FBC7-89DE-4414-B269-1675C02B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21145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56878-CFEF-44B5-AF9A-B41C2B5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5DB5"/>
                </a:solidFill>
              </a:defRPr>
            </a:pPr>
            <a:r>
              <a:rPr sz="975" b="1">
                <a:solidFill>
                  <a:srgbClr val="F05DB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42AA0-FA5B-49DE-A324-8B07E400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Add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83520-A277-4C3A-B188-99AB3848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A1AA"/>
                </a:solidFill>
              </a:defRPr>
            </a:pPr>
            <a:r>
              <a:rPr sz="900">
                <a:solidFill>
                  <a:srgbClr val="9BA1AA"/>
                </a:solidFill>
              </a:rPr>
              <a:t>cover · story ·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ACA0C-5573-47C6-9971-504E3289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72FF"/>
                </a:solidFill>
              </a:defRPr>
            </a:pPr>
            <a:r>
              <a:rPr sz="1950" b="1">
                <a:solidFill>
                  <a:srgbClr val="A872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F4A0B-0115-4FEF-924E-FB6EC624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21145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15952-B4CE-4132-96D6-9C16CB4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5DB5"/>
                </a:solidFill>
              </a:defRPr>
            </a:pPr>
            <a:r>
              <a:rPr sz="975" b="1">
                <a:solidFill>
                  <a:srgbClr val="F05DB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DA22F-533B-42C6-A413-C1145C8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75753-A9C2-45CF-B77B-C3366B4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A1AA"/>
                </a:solidFill>
              </a:defRPr>
            </a:pPr>
            <a:r>
              <a:rPr sz="900">
                <a:solidFill>
                  <a:srgbClr val="9BA1AA"/>
                </a:solidFill>
              </a:rPr>
              <a:t>questions ·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6BAA0-1D4B-4472-A2DB-39036FAC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72FF"/>
                </a:solidFill>
              </a:defRPr>
            </a:pPr>
            <a:r>
              <a:rPr sz="1950" b="1">
                <a:solidFill>
                  <a:srgbClr val="A872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85670-F007-4521-8DDC-5F49D763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21145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DB132-31A7-4A4E-ACD3-B7DF310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89C"/>
                </a:solidFill>
              </a:defRPr>
            </a:pPr>
            <a:r>
              <a:rPr sz="975" b="1">
                <a:solidFill>
                  <a:srgbClr val="55D89C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BDD85-7A6C-4B50-B375-FCEDFD8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028D1-A37F-4517-ABA9-A454247F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A1AA"/>
                </a:solidFill>
              </a:defRPr>
            </a:pPr>
            <a:r>
              <a:rPr sz="900">
                <a:solidFill>
                  <a:srgbClr val="9BA1AA"/>
                </a:solidFill>
              </a:rPr>
              <a:t>visible in archive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E1ED-0823-4988-BF10-359D705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115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1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5A420-3E8B-4DD8-A7E6-85F5E87B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E4D4FF"/>
                </a:solidFill>
              </a:defRPr>
            </a:pPr>
            <a:r>
              <a:rPr sz="1050">
                <a:solidFill>
                  <a:srgbClr val="E4D4FF"/>
                </a:solidFill>
              </a:rPr>
              <a:t>Track остаётся видимым в профиле: автор не теряет контекст своей учебной работы.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D4254-58C9-42B3-A4AE-26D1F3E1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CF0EB-1A11-4969-A303-95AC013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3C152-FBAF-4850-8941-34CB512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5170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B9D4E-346D-4AF5-81F9-585F1876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05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8F018-9383-47CB-82B1-6C5D3E3A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7F5"/>
                </a:solidFill>
              </a:defRPr>
            </a:pPr>
            <a:r>
              <a:rPr sz="3300" b="1">
                <a:solidFill>
                  <a:srgbClr val="F7F7F5"/>
                </a:solidFill>
              </a:rPr>
              <a:t>One drawer holds the</a:t>
            </a:r>
          </a:p>
          <a:p xmlns:a="http://schemas.openxmlformats.org/drawingml/2006/main">
            <a:pPr>
              <a:defRPr sz="3300" b="1">
                <a:solidFill>
                  <a:srgbClr val="F7F7F5"/>
                </a:solidFill>
              </a:defRPr>
            </a:pPr>
            <a:r>
              <a:rPr sz="3300" b="1">
                <a:solidFill>
                  <a:srgbClr val="F7F7F5"/>
                </a:solidFill>
              </a:rPr>
              <a:t>conversation around a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8977A-3E7A-4580-9372-8B2048F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В демонстрации видно не только описание: вопросы, отзывы и Board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показывают, как проект развивается после публикации.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9B4A9-1240-47F0-9693-C49EE9AC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19200"/>
            <a:ext cx="3981450" cy="449580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A9214-C9C2-407A-921E-E3A89FB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7F5"/>
                </a:solidFill>
              </a:defRPr>
            </a:pPr>
            <a:r>
              <a:rPr sz="1650" b="1">
                <a:solidFill>
                  <a:srgbClr val="F7F7F5"/>
                </a:solidFill>
              </a:rPr>
              <a:t>Nihongo Talk Trainer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914AB-B245-462B-B779-DBB70531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A1AA"/>
                </a:solidFill>
              </a:defRPr>
            </a:pPr>
            <a:r>
              <a:rPr sz="900">
                <a:solidFill>
                  <a:srgbClr val="9BA1AA"/>
                </a:solidFill>
              </a:rPr>
              <a:t>Learning systems  ·  Published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59A0E-2297-4BCB-9371-BA89895E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70924-7A2A-4A56-A036-D835B2FC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6B0C1-AB06-4176-BA4C-E40FDBA0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319"/>
                </a:solidFill>
              </a:defRPr>
            </a:pPr>
            <a:r>
              <a:rPr sz="825" b="1">
                <a:solidFill>
                  <a:srgbClr val="111319"/>
                </a:solidFill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A725C-B88B-45F3-A70A-616FCFF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CF395-7819-4D98-82D9-6175633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A1AA"/>
                </a:solidFill>
              </a:defRPr>
            </a:pPr>
            <a:r>
              <a:rPr sz="825" b="1">
                <a:solidFill>
                  <a:srgbClr val="9BA1AA"/>
                </a:solidFill>
              </a:rPr>
              <a:t>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07DB6-C877-4AF2-A811-226F8581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E54F6-9E2E-4C58-B972-5846B56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1460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A1AA"/>
                </a:solidFill>
              </a:defRPr>
            </a:pPr>
            <a:r>
              <a:rPr sz="825" b="1">
                <a:solidFill>
                  <a:srgbClr val="9BA1AA"/>
                </a:solidFill>
              </a:rPr>
              <a:t>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EEDF2-C96E-474F-8FF3-2A8EBA8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A warm practical space where</a:t>
            </a:r>
          </a:p>
          <a:p xmlns:a="http://schemas.openxmlformats.org/drawingml/2006/main">
            <a:pPr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learners can practice conversations.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ECD15-72DA-46AF-8B39-73A54C07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QUESTIONS /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46497-2A22-49E1-8FDD-B42B484C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7F7F5"/>
                </a:solidFill>
              </a:defRPr>
            </a:pPr>
            <a:r>
              <a:rPr sz="1050">
                <a:solidFill>
                  <a:srgbClr val="F7F7F5"/>
                </a:solidFill>
              </a:rPr>
              <a:t>How does progress stay visible?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EE387-B7C4-464F-906F-9644FAFD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BOARD / 06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A938E-B1AB-42A3-8F7C-ABCE3AE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01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20B71-8F76-4954-BF13-98BB597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006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A1AA"/>
                </a:solidFill>
              </a:defRPr>
            </a:pPr>
            <a:r>
              <a:rPr sz="900">
                <a:solidFill>
                  <a:srgbClr val="9BA1AA"/>
                </a:solidFill>
              </a:rPr>
              <a:t>To do        In progress        Done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5F8AA-E8D0-408A-9624-F2BAB0D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953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9D24F-EB04-4BFE-A92D-B88AB22B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9717C"/>
                </a:solidFill>
              </a:defRPr>
            </a:pPr>
            <a:r>
              <a:rPr sz="825" b="1">
                <a:solidFill>
                  <a:srgbClr val="69717C"/>
                </a:solidFill>
              </a:rPr>
              <a:t>DEMO 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E88D8-9762-4FE3-AF8C-FC63E90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BA1AA"/>
                </a:solidFill>
              </a:defRPr>
            </a:pPr>
            <a:r>
              <a:rPr sz="1125">
                <a:solidFill>
                  <a:srgbClr val="9BA1AA"/>
                </a:solidFill>
              </a:rPr>
              <a:t>1  Switch language</a:t>
            </a:r>
          </a:p>
          <a:p xmlns:a="http://schemas.openxmlformats.org/drawingml/2006/main">
            <a:pPr>
              <a:defRPr sz="1125">
                <a:solidFill>
                  <a:srgbClr val="9BA1AA"/>
                </a:solidFill>
              </a:defRPr>
            </a:pPr>
            <a:r>
              <a:rPr sz="1125">
                <a:solidFill>
                  <a:srgbClr val="9BA1AA"/>
                </a:solidFill>
              </a:rPr>
              <a:t>2  Search + filter</a:t>
            </a:r>
          </a:p>
          <a:p xmlns:a="http://schemas.openxmlformats.org/drawingml/2006/main">
            <a:pPr>
              <a:defRPr sz="1125">
                <a:solidFill>
                  <a:srgbClr val="9BA1AA"/>
                </a:solidFill>
              </a:defRPr>
            </a:pPr>
            <a:r>
              <a:rPr sz="1125">
                <a:solidFill>
                  <a:srgbClr val="9BA1AA"/>
                </a:solidFill>
              </a:rPr>
              <a:t>3  Open a project</a:t>
            </a:r>
          </a:p>
          <a:p xmlns:a="http://schemas.openxmlformats.org/drawingml/2006/main">
            <a:pPr>
              <a:defRPr sz="1125">
                <a:solidFill>
                  <a:srgbClr val="9BA1AA"/>
                </a:solidFill>
              </a:defRPr>
            </a:pPr>
            <a:r>
              <a:rPr sz="1125">
                <a:solidFill>
                  <a:srgbClr val="9BA1AA"/>
                </a:solidFill>
              </a:rPr>
              <a:t>4  Add a question /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DCCAD-DA99-4D1F-904C-DCB600E8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9B63"/>
                </a:solidFill>
              </a:defRPr>
            </a:pPr>
            <a:r>
              <a:rPr sz="900" b="1">
                <a:solidFill>
                  <a:srgbClr val="FF9B63"/>
                </a:solidFill>
              </a:rPr>
              <a:t>sample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0AF84-314A-4017-A0FD-991E878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683F8-1593-4F82-B58E-E07FC223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BC008-A772-4D16-A4FE-5A8391A1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2589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C9837-0343-4A9E-BB34-96831E10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06 /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B4A33-5339-477C-9AC9-559984F5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The backend is small,</a:t>
            </a:r>
          </a:p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but it is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07508-99A3-447B-B3A6-2D7F3772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Состояние больше не живёт только в макете: D1 хранит структуру,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R2 — изображения, API ограничивает изменения владельцем проекта.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BFF95-4B86-4ABF-8969-22A2F1B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A34"/>
          </a:solidFill>
          <a:ln xmlns:a="http://schemas.openxmlformats.org/drawingml/2006/main" w="9525">
            <a:solidFill>
              <a:srgbClr val="463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23E0B-4E11-42A5-AE4C-5EA4B5E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72FF"/>
                </a:solidFill>
              </a:defRPr>
            </a:pPr>
            <a:r>
              <a:rPr sz="825" b="1">
                <a:solidFill>
                  <a:srgbClr val="A872FF"/>
                </a:solidFill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C8F63-583C-447B-86D7-384F9345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React + TypeScript</a:t>
            </a:r>
          </a:p>
          <a:p xmlns:a="http://schemas.openxmlformats.org/drawingml/2006/main">
            <a:pPr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Vinext + 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314C1-1C95-42C1-88F0-4747F969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02117"/>
          </a:solidFill>
          <a:ln xmlns:a="http://schemas.openxmlformats.org/drawingml/2006/main" w="9525">
            <a:solidFill>
              <a:srgbClr val="6B4C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6BA45-9F1F-4F0C-8419-59E83929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9B63"/>
                </a:solidFill>
              </a:defRPr>
            </a:pPr>
            <a:r>
              <a:rPr sz="825" b="1">
                <a:solidFill>
                  <a:srgbClr val="FF9B63"/>
                </a:solidFill>
              </a:rPr>
              <a:t>API +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912B2-BAF3-4F25-8A50-DDCA9BF8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Vinext routes</a:t>
            </a:r>
          </a:p>
          <a:p xmlns:a="http://schemas.openxmlformats.org/drawingml/2006/main">
            <a:pPr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Cloudflare D1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A914B-DC28-4367-B06A-D15076C5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D2B"/>
          </a:solidFill>
          <a:ln xmlns:a="http://schemas.openxmlformats.org/drawingml/2006/main" w="9525">
            <a:solidFill>
              <a:srgbClr val="315C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C1283-7467-41B1-9851-B9500E9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MEDIA +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96EB0-E6EB-4019-BCD5-2F0D86F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R2 images</a:t>
            </a:r>
          </a:p>
          <a:p xmlns:a="http://schemas.openxmlformats.org/drawingml/2006/main">
            <a:pPr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owner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18796-127E-41A3-97F0-1F3CFBB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96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AEDAC-66C3-400E-8008-2B78CD92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5171D-0942-4399-B4BB-EDE64863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195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05DB5"/>
                </a:solidFill>
              </a:defRPr>
            </a:pPr>
            <a:r>
              <a:rPr sz="1950">
                <a:solidFill>
                  <a:srgbClr val="F05DB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91618-1428-403B-8336-48B5073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95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05DB5"/>
                </a:solidFill>
              </a:defRPr>
            </a:pPr>
            <a:r>
              <a:rPr sz="1950">
                <a:solidFill>
                  <a:srgbClr val="F05D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CED95-B6D3-4531-AC14-57F88DD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981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72D84-33AD-4B2A-9EA4-3B397C95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BA1AA"/>
                </a:solidFill>
              </a:defRPr>
            </a:pPr>
            <a:r>
              <a:rPr sz="975">
                <a:solidFill>
                  <a:srgbClr val="9BA1AA"/>
                </a:solidFill>
              </a:rPr>
              <a:t>profiles  ·  projects  ·  questions  ·  reviews  ·  board_items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FFB20-AC55-4CDA-9E2C-6FE02BE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40D15-B7F3-43B1-B722-5360F9B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B0D76-3C1F-4695-9649-1D9C0FE9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0394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3905B-569D-4B00-8281-42DE4F1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07 /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9E366-B763-4284-AB2E-5CB50D91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The core flows were checked</a:t>
            </a:r>
          </a:p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end to 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F4762-CF31-4B38-9F4D-06A24A18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Проверены не только экраны, но и реальные ответы API: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создание, изменение, публикация и удаление временной записи.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222EA-12AD-4A46-9DB8-A290B25E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05DB5"/>
                </a:solidFill>
              </a:defRPr>
            </a:pPr>
            <a:r>
              <a:rPr sz="5850" b="1">
                <a:solidFill>
                  <a:srgbClr val="F05DB5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9B80E-15FA-4433-9DD2-4AEFA3C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7F7F5"/>
                </a:solidFill>
              </a:defRPr>
            </a:pPr>
            <a:r>
              <a:rPr sz="1125" b="1">
                <a:solidFill>
                  <a:srgbClr val="F7F7F5"/>
                </a:solidFill>
              </a:rPr>
              <a:t>test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D1965-9624-4E15-9AB6-55BE0532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89C"/>
                </a:solidFill>
              </a:defRPr>
            </a:pPr>
            <a:r>
              <a:rPr sz="975" b="1">
                <a:solidFill>
                  <a:srgbClr val="55D89C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21534-5929-402A-A93A-57EA9E8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696B5-3DB5-4453-B2ED-B2A8BF23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9D9AA-0D8C-4FCA-A874-6A97C475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76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7F7F5"/>
                </a:solidFill>
              </a:defRPr>
            </a:pPr>
            <a:r>
              <a:rPr sz="1200">
                <a:solidFill>
                  <a:srgbClr val="F7F7F5"/>
                </a:solidFill>
              </a:rPr>
              <a:t>Catalog, search, 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41969-058B-489E-8B32-E352BC9C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3A3D0-7760-42B4-8534-F31447F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F0EED-7FB1-45D8-88A1-C1904348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CF4CA-E8B9-418D-89B1-BAC7E9C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7F7F5"/>
                </a:solidFill>
              </a:defRPr>
            </a:pPr>
            <a:r>
              <a:rPr sz="1200">
                <a:solidFill>
                  <a:srgbClr val="F7F7F5"/>
                </a:solidFill>
              </a:rPr>
              <a:t>Profile 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99F7F-D496-4D4C-93FC-39F0544D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40A8E-F5BD-4F93-AD13-F6A5479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EBFA2-0297-4834-8115-22958017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59CBC-CC1A-4089-859B-595C192A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7F7F5"/>
                </a:solidFill>
              </a:defRPr>
            </a:pPr>
            <a:r>
              <a:rPr sz="1200">
                <a:solidFill>
                  <a:srgbClr val="F7F7F5"/>
                </a:solidFill>
              </a:rPr>
              <a:t>Draft → Published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FA40C-25C5-486B-B191-60EC6D97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D0FEA-4DEA-4B98-A6BC-EB25D2D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98D2A-2B46-4A75-9A35-318C1E2A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BB27C-FBE1-4A1D-9C33-4FF5CE5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9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7F7F5"/>
                </a:solidFill>
              </a:defRPr>
            </a:pPr>
            <a:r>
              <a:rPr sz="1200">
                <a:solidFill>
                  <a:srgbClr val="F7F7F5"/>
                </a:solidFill>
              </a:rPr>
              <a:t>Board move + ownership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E9667-503C-4F16-A32E-AEFD199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4A54B1-A2FA-4E9E-9A3D-3C95C4DE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BA83A-C5A1-41D7-9986-B981C0E2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89525-8821-4B12-94E1-B36DFD94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00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7F7F5"/>
                </a:solidFill>
              </a:defRPr>
            </a:pPr>
            <a:r>
              <a:rPr sz="1200">
                <a:solidFill>
                  <a:srgbClr val="F7F7F5"/>
                </a:solidFill>
              </a:rPr>
              <a:t>Build + lint + smoke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E5845-1AD2-41BA-8A7B-B9BF19BE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00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3F2BB9-1212-4203-8860-5F8799CF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864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DE876-9D7E-4342-8B3C-14D07206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2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5A10C-7954-41DC-887D-57A1A930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942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5D89C"/>
                </a:solidFill>
              </a:defRPr>
            </a:pPr>
            <a:r>
              <a:rPr sz="900">
                <a:solidFill>
                  <a:srgbClr val="55D89C"/>
                </a:solidFill>
              </a:rPr>
              <a:t>npm run build  ✓     npm run lint  ✓     API smoke test  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BD9E8-8C28-42B0-9AFF-7D21E191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B9E87-3ECA-4B92-8330-6F58204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E7BF0-BF86-47EE-923D-3ACAD155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9787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2C8D4-D4FA-4965-A51D-A07C83A4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08 / MVP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F865D-2F6F-4FAA-B1FD-356A671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Ready to show.</a:t>
            </a:r>
          </a:p>
          <a:p xmlns:a="http://schemas.openxmlformats.org/drawingml/2006/main">
            <a:pPr>
              <a:defRPr sz="3375" b="1">
                <a:solidFill>
                  <a:srgbClr val="F7F7F5"/>
                </a:solidFill>
              </a:defRPr>
            </a:pPr>
            <a:r>
              <a:rPr sz="3375" b="1">
                <a:solidFill>
                  <a:srgbClr val="F7F7F5"/>
                </a:solidFill>
              </a:rPr>
              <a:t>Clear about its limits.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C0711-BAEE-4938-B7F1-E9E5636E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Получился сдаваемый MVP с настоящим backend-слоем и понятным</a:t>
            </a:r>
          </a:p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следующим этапом развития.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0CF4E-6FE4-45FF-9256-10E0E69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D89C"/>
                </a:solidFill>
              </a:defRPr>
            </a:pPr>
            <a:r>
              <a:rPr sz="825" b="1">
                <a:solidFill>
                  <a:srgbClr val="55D89C"/>
                </a:solidFill>
              </a:rPr>
              <a:t>WHAT WORKS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9EA77-DAFE-4716-964B-8968764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7F7F5"/>
                </a:solidFill>
              </a:defRPr>
            </a:pPr>
            <a:r>
              <a:rPr sz="1275">
                <a:solidFill>
                  <a:srgbClr val="F7F7F5"/>
                </a:solidFill>
              </a:rPr>
              <a:t>Многоязычный каталог</a:t>
            </a:r>
          </a:p>
          <a:p xmlns:a="http://schemas.openxmlformats.org/drawingml/2006/main">
            <a:pPr>
              <a:defRPr sz="1275">
                <a:solidFill>
                  <a:srgbClr val="F7F7F5"/>
                </a:solidFill>
              </a:defRPr>
            </a:pPr>
            <a:r>
              <a:rPr sz="1275">
                <a:solidFill>
                  <a:srgbClr val="F7F7F5"/>
                </a:solidFill>
              </a:rPr>
              <a:t>Профиль + Track</a:t>
            </a:r>
          </a:p>
          <a:p xmlns:a="http://schemas.openxmlformats.org/drawingml/2006/main">
            <a:pPr>
              <a:defRPr sz="1275">
                <a:solidFill>
                  <a:srgbClr val="F7F7F5"/>
                </a:solidFill>
              </a:defRPr>
            </a:pPr>
            <a:r>
              <a:rPr sz="1275">
                <a:solidFill>
                  <a:srgbClr val="F7F7F5"/>
                </a:solidFill>
              </a:rPr>
              <a:t>Создание, Edit, Delete</a:t>
            </a:r>
          </a:p>
          <a:p xmlns:a="http://schemas.openxmlformats.org/drawingml/2006/main">
            <a:pPr>
              <a:defRPr sz="1275">
                <a:solidFill>
                  <a:srgbClr val="F7F7F5"/>
                </a:solidFill>
              </a:defRPr>
            </a:pPr>
            <a:r>
              <a:rPr sz="1275">
                <a:solidFill>
                  <a:srgbClr val="F7F7F5"/>
                </a:solidFill>
              </a:rPr>
              <a:t>Draft / Published</a:t>
            </a:r>
          </a:p>
          <a:p xmlns:a="http://schemas.openxmlformats.org/drawingml/2006/main">
            <a:pPr>
              <a:defRPr sz="1275">
                <a:solidFill>
                  <a:srgbClr val="F7F7F5"/>
                </a:solidFill>
              </a:defRPr>
            </a:pPr>
            <a:r>
              <a:rPr sz="1275">
                <a:solidFill>
                  <a:srgbClr val="F7F7F5"/>
                </a:solidFill>
              </a:rPr>
              <a:t>Questions, Reviews, Board</a:t>
            </a:r>
          </a:p>
          <a:p xmlns:a="http://schemas.openxmlformats.org/drawingml/2006/main">
            <a:pPr>
              <a:defRPr sz="1275">
                <a:solidFill>
                  <a:srgbClr val="F7F7F5"/>
                </a:solidFill>
              </a:defRPr>
            </a:pPr>
            <a:r>
              <a:rPr sz="1275">
                <a:solidFill>
                  <a:srgbClr val="F7F7F5"/>
                </a:solidFill>
              </a:rPr>
              <a:t>D1 + R2 persistence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879A3-BF56-42CE-86A7-ED2CE15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9B63"/>
                </a:solidFill>
              </a:defRPr>
            </a:pPr>
            <a:r>
              <a:rPr sz="825" b="1">
                <a:solidFill>
                  <a:srgbClr val="FF9B63"/>
                </a:solidFill>
              </a:rPr>
              <a:t>NEXT ITERATION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18453-8572-4AC7-B5F7-CF81A1A1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342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BA1AA"/>
                </a:solidFill>
              </a:defRPr>
            </a:pPr>
            <a:r>
              <a:rPr sz="1275">
                <a:solidFill>
                  <a:srgbClr val="9BA1AA"/>
                </a:solidFill>
              </a:rPr>
              <a:t>Модерация и роли</a:t>
            </a:r>
          </a:p>
          <a:p xmlns:a="http://schemas.openxmlformats.org/drawingml/2006/main">
            <a:pPr>
              <a:defRPr sz="1275">
                <a:solidFill>
                  <a:srgbClr val="9BA1AA"/>
                </a:solidFill>
              </a:defRPr>
            </a:pPr>
            <a:r>
              <a:rPr sz="1275">
                <a:solidFill>
                  <a:srgbClr val="9BA1AA"/>
                </a:solidFill>
              </a:rPr>
              <a:t>Публичный production access</a:t>
            </a:r>
          </a:p>
          <a:p xmlns:a="http://schemas.openxmlformats.org/drawingml/2006/main">
            <a:pPr>
              <a:defRPr sz="1275">
                <a:solidFill>
                  <a:srgbClr val="9BA1AA"/>
                </a:solidFill>
              </a:defRPr>
            </a:pPr>
            <a:r>
              <a:rPr sz="1275">
                <a:solidFill>
                  <a:srgbClr val="9BA1AA"/>
                </a:solidFill>
              </a:rPr>
              <a:t>Большие файлы и media pages</a:t>
            </a:r>
          </a:p>
          <a:p xmlns:a="http://schemas.openxmlformats.org/drawingml/2006/main">
            <a:pPr>
              <a:defRPr sz="1275">
                <a:solidFill>
                  <a:srgbClr val="9BA1AA"/>
                </a:solidFill>
              </a:defRPr>
            </a:pPr>
            <a:r>
              <a:rPr sz="1275">
                <a:solidFill>
                  <a:srgbClr val="9BA1AA"/>
                </a:solidFill>
              </a:rPr>
              <a:t>Реальные студенческие проекты</a:t>
            </a:r>
          </a:p>
          <a:p xmlns:a="http://schemas.openxmlformats.org/drawingml/2006/main">
            <a:pPr>
              <a:defRPr sz="1275">
                <a:solidFill>
                  <a:srgbClr val="9BA1AA"/>
                </a:solidFill>
              </a:defRPr>
            </a:pPr>
            <a:r>
              <a:rPr sz="1275">
                <a:solidFill>
                  <a:srgbClr val="9BA1AA"/>
                </a:solidFill>
              </a:rPr>
              <a:t>Analytics без demo-цифр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53910-756F-4A58-9AC3-683EA02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1343D-E5B9-4E07-809E-1D16E2A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962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61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73BE3-F98C-48E5-A841-60A2C7B7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10250"/>
            <a:ext cx="912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5D4FF"/>
                </a:solidFill>
              </a:defRPr>
            </a:pPr>
            <a:r>
              <a:rPr sz="900">
                <a:solidFill>
                  <a:srgbClr val="E5D4FF"/>
                </a:solidFill>
              </a:rPr>
              <a:t>Важно: вопросы, отзывы, оценки и числа в демо — демонстрационные sample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C37D8-649D-46DA-B00D-95E5431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E7C04-174F-4692-B528-0FF130B3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408E1-C1A7-4B1D-98BD-33C5AC6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4171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DF3F5-CFEE-4419-A092-A39A79AA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717C"/>
                </a:solidFill>
              </a:defRPr>
            </a:pPr>
            <a:r>
              <a:rPr sz="900" b="1">
                <a:solidFill>
                  <a:srgbClr val="69717C"/>
                </a:solidFill>
              </a:rPr>
              <a:t>09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EC748-FF83-4B29-AFA4-2B56AFE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7F5"/>
                </a:solidFill>
              </a:defRPr>
            </a:pPr>
            <a:r>
              <a:rPr sz="3600" b="1">
                <a:solidFill>
                  <a:srgbClr val="F7F7F5"/>
                </a:solidFill>
              </a:rPr>
              <a:t>From scattered work</a:t>
            </a:r>
          </a:p>
          <a:p xmlns:a="http://schemas.openxmlformats.org/drawingml/2006/main">
            <a:pPr>
              <a:defRPr sz="3600" b="1">
                <a:solidFill>
                  <a:srgbClr val="F7F7F5"/>
                </a:solidFill>
              </a:defRPr>
            </a:pPr>
            <a:r>
              <a:rPr sz="3600" b="1">
                <a:solidFill>
                  <a:srgbClr val="F7F7F5"/>
                </a:solidFill>
              </a:rPr>
              <a:t>to one signal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CE1AD-0095-4D1F-AA57-B2BC389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BA1AA"/>
                </a:solidFill>
              </a:defRPr>
            </a:pPr>
            <a:r>
              <a:rPr sz="1500">
                <a:solidFill>
                  <a:srgbClr val="9BA1AA"/>
                </a:solidFill>
              </a:rPr>
              <a:t>JDU Portfolio Workspace показывает не только результат проекта,</a:t>
            </a:r>
          </a:p>
          <a:p xmlns:a="http://schemas.openxmlformats.org/drawingml/2006/main">
            <a:pPr>
              <a:defRPr sz="1500">
                <a:solidFill>
                  <a:srgbClr val="9BA1AA"/>
                </a:solidFill>
              </a:defRPr>
            </a:pPr>
            <a:r>
              <a:rPr sz="1500">
                <a:solidFill>
                  <a:srgbClr val="9BA1AA"/>
                </a:solidFill>
              </a:rPr>
              <a:t>но и контекст, вопросы, обратную связь и следующий шаг.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1D483-FA66-4471-8426-4D54041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048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5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795FA-5010-4B9A-A576-41354AB4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05DB5"/>
                </a:solidFill>
              </a:defRPr>
            </a:pPr>
            <a:r>
              <a:rPr sz="825" b="1">
                <a:solidFill>
                  <a:srgbClr val="F05DB5"/>
                </a:solidFill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4F833-73E9-4224-BCCD-226BBD8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jdu-signal-archive.ishonchsavdo1.chatgpt.site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539FC-F363-4D11-851A-18D352DB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717C"/>
                </a:solidFill>
              </a:defRPr>
            </a:pPr>
            <a:r>
              <a:rPr sz="750">
                <a:solidFill>
                  <a:srgbClr val="69717C"/>
                </a:solidFill>
              </a:rPr>
              <a:t>JDU  /  COWORK RETAKE  / 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87F92-A60D-4232-915B-6061CF49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2762250" cy="342900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41A3B"/>
          </a:solidFill>
          <a:ln xmlns:a="http://schemas.openxmlformats.org/drawingml/2006/main" w="9525">
            <a:solidFill>
              <a:srgbClr val="493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0EFB5-13E5-42AF-A482-9F12716A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126BB-5F56-4085-B033-C65A37DA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DEDEF-50DF-4759-BB7A-E792DB9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7F5"/>
                </a:solidFill>
              </a:defRPr>
            </a:pPr>
            <a:r>
              <a:rPr sz="2250" b="1">
                <a:solidFill>
                  <a:srgbClr val="F7F7F5"/>
                </a:solidFill>
              </a:rPr>
              <a:t>JDU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766F3-7E36-4662-B7A4-00838E5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D4FF"/>
                </a:solidFill>
              </a:defRPr>
            </a:pPr>
            <a:r>
              <a:rPr sz="1125" b="1">
                <a:solidFill>
                  <a:srgbClr val="E5D4FF"/>
                </a:solidFill>
              </a:rPr>
              <a:t>THE ARCHIVE</a:t>
            </a:r>
          </a:p>
          <a:p xmlns:a="http://schemas.openxmlformats.org/drawingml/2006/main">
            <a:pPr algn="ctr">
              <a:defRPr sz="1125" b="1">
                <a:solidFill>
                  <a:srgbClr val="E5D4FF"/>
                </a:solidFill>
              </a:defRPr>
            </a:pPr>
            <a:r>
              <a:rPr sz="1125" b="1">
                <a:solidFill>
                  <a:srgbClr val="E5D4FF"/>
                </a:solidFill>
              </a:rPr>
              <a:t>IS OPEN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E87AF-2869-4F4F-B095-92A09D91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BA1AA"/>
                </a:solidFill>
              </a:defRPr>
            </a:pPr>
            <a:r>
              <a:rPr sz="1350">
                <a:solidFill>
                  <a:srgbClr val="9BA1AA"/>
                </a:solidFill>
              </a:rPr>
              <a:t>Thank you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3218E-1561-44FA-B17D-A638410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E47D8-3EA9-4C3F-80CA-A08AC18A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717C"/>
                </a:solidFill>
              </a:defRPr>
            </a:pPr>
            <a:r>
              <a:rPr sz="750" b="1">
                <a:solidFill>
                  <a:srgbClr val="69717C"/>
                </a:solidFill>
              </a:rPr>
              <a:t>JDU PORTFOLIO WORKSPACE  /  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B5F15-F005-4B51-9E15-FD6A58E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1AA"/>
                </a:solidFill>
              </a:defRPr>
            </a:pPr>
            <a:r>
              <a:rPr sz="900" b="1">
                <a:solidFill>
                  <a:srgbClr val="9BA1A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2850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2026-08-30T16:28:15.0580000Z</dcterms:created>
  <dcterms:modified xsi:type="dcterms:W3CDTF">2026-08-30T16:28:15.0580000Z</dcterms:modified>
</coreProperties>
</file>